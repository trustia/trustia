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1C4AE0-9F2B-44FA-BEE3-15A0F8FA7E14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915EB-395E-47E5-909C-44A6BB1D268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996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7E54-8BC2-4876-AEE8-BC67EF72C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B1ECF-3846-40F1-85FD-99796A4EC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20DA5-4B3F-4AE8-8A19-E065ACCBE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3B6C0-F5F0-4C20-978C-59597005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14BFB-CF8F-47B4-B267-943435CC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  <p:sp>
        <p:nvSpPr>
          <p:cNvPr id="8" name="flSlideMaster.Title SlideFooter" descr="TASNİF DIŞI">
            <a:extLst>
              <a:ext uri="{FF2B5EF4-FFF2-40B4-BE49-F238E27FC236}">
                <a16:creationId xmlns:a16="http://schemas.microsoft.com/office/drawing/2014/main" id="{1EF0F251-6FD2-438F-B51C-1BEE6B6513A2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</p:spTree>
    <p:extLst>
      <p:ext uri="{BB962C8B-B14F-4D97-AF65-F5344CB8AC3E}">
        <p14:creationId xmlns:p14="http://schemas.microsoft.com/office/powerpoint/2010/main" val="16180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359B-6473-4D4C-81BB-713FD1F43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D806-ACCC-49A1-A86F-1872DD6B8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7812C-069D-462D-B8AA-E2B410713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25104-4917-4893-9A14-1DB5923B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D2B47-05F7-486D-968A-0B6BAB772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  <p:sp>
        <p:nvSpPr>
          <p:cNvPr id="7" name="hlSlideMaster.Title and ContentHeader" descr="TASNİF DIŞI">
            <a:extLst>
              <a:ext uri="{FF2B5EF4-FFF2-40B4-BE49-F238E27FC236}">
                <a16:creationId xmlns:a16="http://schemas.microsoft.com/office/drawing/2014/main" id="{00D5B2F1-4E73-4BFC-A439-027F34718C4F}"/>
              </a:ext>
            </a:extLst>
          </p:cNvPr>
          <p:cNvSpPr txBox="1"/>
          <p:nvPr userDrawn="1"/>
        </p:nvSpPr>
        <p:spPr>
          <a:xfrm>
            <a:off x="0" y="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  <p:sp>
        <p:nvSpPr>
          <p:cNvPr id="8" name="flSlideMaster.Title and ContentFooter" descr="TASNİF DIŞI">
            <a:extLst>
              <a:ext uri="{FF2B5EF4-FFF2-40B4-BE49-F238E27FC236}">
                <a16:creationId xmlns:a16="http://schemas.microsoft.com/office/drawing/2014/main" id="{3643620C-766B-4B7C-A718-E5A8F5EEFCF8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</p:spTree>
    <p:extLst>
      <p:ext uri="{BB962C8B-B14F-4D97-AF65-F5344CB8AC3E}">
        <p14:creationId xmlns:p14="http://schemas.microsoft.com/office/powerpoint/2010/main" val="127161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9429E-D618-4B46-92EB-5B5487B19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0C821-D221-40FD-AEA8-3A24212FB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2929D-E99F-4654-AD52-FC6F290D6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052D2-4162-49BD-8B8A-F58BCFB9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FE0E3-210A-4C1B-92FC-F03B1B34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  <p:sp>
        <p:nvSpPr>
          <p:cNvPr id="7" name="hlSlideMaster.Section HeaderHeader" descr="TASNİF DIŞI">
            <a:extLst>
              <a:ext uri="{FF2B5EF4-FFF2-40B4-BE49-F238E27FC236}">
                <a16:creationId xmlns:a16="http://schemas.microsoft.com/office/drawing/2014/main" id="{BE08D8CE-8A06-49DF-B92B-EDA935DA5E02}"/>
              </a:ext>
            </a:extLst>
          </p:cNvPr>
          <p:cNvSpPr txBox="1"/>
          <p:nvPr userDrawn="1"/>
        </p:nvSpPr>
        <p:spPr>
          <a:xfrm>
            <a:off x="0" y="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  <p:sp>
        <p:nvSpPr>
          <p:cNvPr id="8" name="flSlideMaster.Section HeaderFooter" descr="TASNİF DIŞI">
            <a:extLst>
              <a:ext uri="{FF2B5EF4-FFF2-40B4-BE49-F238E27FC236}">
                <a16:creationId xmlns:a16="http://schemas.microsoft.com/office/drawing/2014/main" id="{A88F4026-A786-41E3-B772-EA44FC58EEE2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</p:spTree>
    <p:extLst>
      <p:ext uri="{BB962C8B-B14F-4D97-AF65-F5344CB8AC3E}">
        <p14:creationId xmlns:p14="http://schemas.microsoft.com/office/powerpoint/2010/main" val="298539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358CC-C411-4390-A506-4372D9407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3702-3CD6-41F7-9EC9-39CE04D12F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35820-E8BD-46EC-9053-DC1B825C9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52DE6-97BB-4A14-9640-E8E4DFD8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68A48-0954-44B2-BAA6-FF4D263FD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823D2-FFEC-4BE8-A06C-918F8225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  <p:sp>
        <p:nvSpPr>
          <p:cNvPr id="8" name="hlSlideMaster.Two ContentHeader" descr="TASNİF DIŞI">
            <a:extLst>
              <a:ext uri="{FF2B5EF4-FFF2-40B4-BE49-F238E27FC236}">
                <a16:creationId xmlns:a16="http://schemas.microsoft.com/office/drawing/2014/main" id="{7FC4EEB1-4C87-439B-B321-17C757359016}"/>
              </a:ext>
            </a:extLst>
          </p:cNvPr>
          <p:cNvSpPr txBox="1"/>
          <p:nvPr userDrawn="1"/>
        </p:nvSpPr>
        <p:spPr>
          <a:xfrm>
            <a:off x="0" y="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  <p:sp>
        <p:nvSpPr>
          <p:cNvPr id="9" name="flSlideMaster.Two ContentFooter" descr="TASNİF DIŞI">
            <a:extLst>
              <a:ext uri="{FF2B5EF4-FFF2-40B4-BE49-F238E27FC236}">
                <a16:creationId xmlns:a16="http://schemas.microsoft.com/office/drawing/2014/main" id="{79A0E561-9D23-4478-9518-9F7A268F9CE6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</p:spTree>
    <p:extLst>
      <p:ext uri="{BB962C8B-B14F-4D97-AF65-F5344CB8AC3E}">
        <p14:creationId xmlns:p14="http://schemas.microsoft.com/office/powerpoint/2010/main" val="173993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AA921-0723-482B-90AA-137C16DCB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C60EA-F553-4CCB-9799-DA9197D04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1418A-68E4-4901-B6A9-CC454E2AA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AF1D5-3804-4A63-AE4A-797D4645A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AF768-FFB1-4083-84EB-C61B3BC9E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47E2E6-DC53-479C-B568-2AD631301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E05DE7-A101-4AD9-9158-B75B7F4B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EF7A7-B1BD-4D34-BD5A-6BD499A5B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hlSlideMaster.ComparisonHeader" descr="TASNİF DIŞI">
            <a:extLst>
              <a:ext uri="{FF2B5EF4-FFF2-40B4-BE49-F238E27FC236}">
                <a16:creationId xmlns:a16="http://schemas.microsoft.com/office/drawing/2014/main" id="{85B96AB7-FE1C-4B8A-B856-61421FFE139D}"/>
              </a:ext>
            </a:extLst>
          </p:cNvPr>
          <p:cNvSpPr txBox="1"/>
          <p:nvPr userDrawn="1"/>
        </p:nvSpPr>
        <p:spPr>
          <a:xfrm>
            <a:off x="0" y="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  <p:sp>
        <p:nvSpPr>
          <p:cNvPr id="11" name="flSlideMaster.ComparisonFooter" descr="TASNİF DIŞI">
            <a:extLst>
              <a:ext uri="{FF2B5EF4-FFF2-40B4-BE49-F238E27FC236}">
                <a16:creationId xmlns:a16="http://schemas.microsoft.com/office/drawing/2014/main" id="{64FE4608-8B1D-44CC-9E66-3A90A8B15E24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</p:spTree>
    <p:extLst>
      <p:ext uri="{BB962C8B-B14F-4D97-AF65-F5344CB8AC3E}">
        <p14:creationId xmlns:p14="http://schemas.microsoft.com/office/powerpoint/2010/main" val="1224833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4A13-BE57-48B9-AEE0-0EF1A9A8A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DA736-E2DC-4731-823A-70BD0C29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BA31D-FCB1-4397-B9B5-7EB04AC4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C9E9E9-8D6A-4152-9F08-831DC7488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  <p:sp>
        <p:nvSpPr>
          <p:cNvPr id="6" name="hlSlideMaster.Title OnlyHeader" descr="TASNİF DIŞI">
            <a:extLst>
              <a:ext uri="{FF2B5EF4-FFF2-40B4-BE49-F238E27FC236}">
                <a16:creationId xmlns:a16="http://schemas.microsoft.com/office/drawing/2014/main" id="{27E9B51E-77CC-4A53-93FF-0137F1077DB4}"/>
              </a:ext>
            </a:extLst>
          </p:cNvPr>
          <p:cNvSpPr txBox="1"/>
          <p:nvPr userDrawn="1"/>
        </p:nvSpPr>
        <p:spPr>
          <a:xfrm>
            <a:off x="0" y="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  <p:sp>
        <p:nvSpPr>
          <p:cNvPr id="7" name="flSlideMaster.Title OnlyFooter" descr="TASNİF DIŞI">
            <a:extLst>
              <a:ext uri="{FF2B5EF4-FFF2-40B4-BE49-F238E27FC236}">
                <a16:creationId xmlns:a16="http://schemas.microsoft.com/office/drawing/2014/main" id="{925A1671-63FA-48D8-B431-B7A0E6E1C5AE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</p:spTree>
    <p:extLst>
      <p:ext uri="{BB962C8B-B14F-4D97-AF65-F5344CB8AC3E}">
        <p14:creationId xmlns:p14="http://schemas.microsoft.com/office/powerpoint/2010/main" val="66029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6D3376-7EEB-4831-B5B9-35318DE54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45DA1-9BAF-486C-A518-E4E9AE004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14355-EAC9-447A-9711-5EFCE1F8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  <p:sp>
        <p:nvSpPr>
          <p:cNvPr id="5" name="hlSlideMaster.BlankHeader" descr="TASNİF DIŞI">
            <a:extLst>
              <a:ext uri="{FF2B5EF4-FFF2-40B4-BE49-F238E27FC236}">
                <a16:creationId xmlns:a16="http://schemas.microsoft.com/office/drawing/2014/main" id="{C86ACBC7-9DF9-4D5E-9B1C-E3B421C2378D}"/>
              </a:ext>
            </a:extLst>
          </p:cNvPr>
          <p:cNvSpPr txBox="1"/>
          <p:nvPr userDrawn="1"/>
        </p:nvSpPr>
        <p:spPr>
          <a:xfrm>
            <a:off x="0" y="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  <p:sp>
        <p:nvSpPr>
          <p:cNvPr id="6" name="flSlideMaster.BlankFooter" descr="TASNİF DIŞI">
            <a:extLst>
              <a:ext uri="{FF2B5EF4-FFF2-40B4-BE49-F238E27FC236}">
                <a16:creationId xmlns:a16="http://schemas.microsoft.com/office/drawing/2014/main" id="{FC462F43-0BAB-4640-B86F-27B4E2379330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</p:spTree>
    <p:extLst>
      <p:ext uri="{BB962C8B-B14F-4D97-AF65-F5344CB8AC3E}">
        <p14:creationId xmlns:p14="http://schemas.microsoft.com/office/powerpoint/2010/main" val="2249639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B773-AD85-4C1A-83C7-2B152666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563D4-3A63-4B70-9D65-3FB1250B2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CB374-EDB2-48E5-8EAD-8D74746BE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B9E9E-A536-4320-9A81-57E07408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5EE84-8BCD-462C-BF2A-9E192D5E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DA37A-93C3-4695-974D-5CC39C59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  <p:sp>
        <p:nvSpPr>
          <p:cNvPr id="8" name="hlSlideMaster.Content with CaptionHeader" descr="TASNİF DIŞI">
            <a:extLst>
              <a:ext uri="{FF2B5EF4-FFF2-40B4-BE49-F238E27FC236}">
                <a16:creationId xmlns:a16="http://schemas.microsoft.com/office/drawing/2014/main" id="{48BC99B4-F67B-4097-8D1C-399B6920DEA5}"/>
              </a:ext>
            </a:extLst>
          </p:cNvPr>
          <p:cNvSpPr txBox="1"/>
          <p:nvPr userDrawn="1"/>
        </p:nvSpPr>
        <p:spPr>
          <a:xfrm>
            <a:off x="0" y="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  <p:sp>
        <p:nvSpPr>
          <p:cNvPr id="9" name="flSlideMaster.Content with CaptionFooter" descr="TASNİF DIŞI">
            <a:extLst>
              <a:ext uri="{FF2B5EF4-FFF2-40B4-BE49-F238E27FC236}">
                <a16:creationId xmlns:a16="http://schemas.microsoft.com/office/drawing/2014/main" id="{4314A3AD-FA7D-45A6-A0FB-E181D9DEF671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</p:spTree>
    <p:extLst>
      <p:ext uri="{BB962C8B-B14F-4D97-AF65-F5344CB8AC3E}">
        <p14:creationId xmlns:p14="http://schemas.microsoft.com/office/powerpoint/2010/main" val="2812083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9626-9849-4C82-916B-9E4075C0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3810C2-5C05-4E9A-AC09-5DF750E46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54063-7130-4FDE-97A9-6451D58A1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854AA-2FD7-46C5-93D1-B5B5282A4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0CC05-C5C3-49AB-9430-CBDA1949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35F1C-7EEB-4741-96FD-C65A9570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  <p:sp>
        <p:nvSpPr>
          <p:cNvPr id="8" name="hlSlideMaster.Picture with CaptionHeader" descr="TASNİF DIŞI">
            <a:extLst>
              <a:ext uri="{FF2B5EF4-FFF2-40B4-BE49-F238E27FC236}">
                <a16:creationId xmlns:a16="http://schemas.microsoft.com/office/drawing/2014/main" id="{BCE7FAF7-58D1-46EB-AF4E-232C5B69B915}"/>
              </a:ext>
            </a:extLst>
          </p:cNvPr>
          <p:cNvSpPr txBox="1"/>
          <p:nvPr userDrawn="1"/>
        </p:nvSpPr>
        <p:spPr>
          <a:xfrm>
            <a:off x="0" y="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  <p:sp>
        <p:nvSpPr>
          <p:cNvPr id="9" name="flSlideMaster.Picture with CaptionFooter" descr="TASNİF DIŞI">
            <a:extLst>
              <a:ext uri="{FF2B5EF4-FFF2-40B4-BE49-F238E27FC236}">
                <a16:creationId xmlns:a16="http://schemas.microsoft.com/office/drawing/2014/main" id="{9C4CFF5E-E90F-429B-BC1C-4E126B3DF509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</p:spTree>
    <p:extLst>
      <p:ext uri="{BB962C8B-B14F-4D97-AF65-F5344CB8AC3E}">
        <p14:creationId xmlns:p14="http://schemas.microsoft.com/office/powerpoint/2010/main" val="15267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51512-5383-4BEA-A481-7AE9EA9C4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34482-1677-4589-B634-B2B5C5434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85BF6-9703-4E22-BE26-68B08A62C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900BC-89D9-4B08-8DEC-DE64A2A77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DF48D-8C54-42B8-B006-703A8AC5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  <p:sp>
        <p:nvSpPr>
          <p:cNvPr id="7" name="hlSlideMaster.Title and Vertical TextHeader" descr="TASNİF DIŞI">
            <a:extLst>
              <a:ext uri="{FF2B5EF4-FFF2-40B4-BE49-F238E27FC236}">
                <a16:creationId xmlns:a16="http://schemas.microsoft.com/office/drawing/2014/main" id="{5D9CC7A9-ABE0-4098-A22F-95D2BA9D30A4}"/>
              </a:ext>
            </a:extLst>
          </p:cNvPr>
          <p:cNvSpPr txBox="1"/>
          <p:nvPr userDrawn="1"/>
        </p:nvSpPr>
        <p:spPr>
          <a:xfrm>
            <a:off x="0" y="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  <p:sp>
        <p:nvSpPr>
          <p:cNvPr id="8" name="flSlideMaster.Title and Vertical TextFooter" descr="TASNİF DIŞI">
            <a:extLst>
              <a:ext uri="{FF2B5EF4-FFF2-40B4-BE49-F238E27FC236}">
                <a16:creationId xmlns:a16="http://schemas.microsoft.com/office/drawing/2014/main" id="{DBC42A12-2B79-41E9-8931-1DABC2C3551C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</p:spTree>
    <p:extLst>
      <p:ext uri="{BB962C8B-B14F-4D97-AF65-F5344CB8AC3E}">
        <p14:creationId xmlns:p14="http://schemas.microsoft.com/office/powerpoint/2010/main" val="2010038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C055DF-3AB6-4252-A68A-C2FCCD34B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E8025-F185-4E97-A21D-DB8076674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F518C-615B-4146-9A67-C132FA71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9D2ED-B41D-4ACF-B596-6D3BDCD5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FA4A3-3D88-4F34-B8B8-603669FB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  <p:sp>
        <p:nvSpPr>
          <p:cNvPr id="7" name="hlSlideMaster.Vertical Title and TextHeader" descr="TASNİF DIŞI">
            <a:extLst>
              <a:ext uri="{FF2B5EF4-FFF2-40B4-BE49-F238E27FC236}">
                <a16:creationId xmlns:a16="http://schemas.microsoft.com/office/drawing/2014/main" id="{D6A9557A-AD2E-40BB-A3D4-DA311E802163}"/>
              </a:ext>
            </a:extLst>
          </p:cNvPr>
          <p:cNvSpPr txBox="1"/>
          <p:nvPr userDrawn="1"/>
        </p:nvSpPr>
        <p:spPr>
          <a:xfrm>
            <a:off x="0" y="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  <p:sp>
        <p:nvSpPr>
          <p:cNvPr id="8" name="flSlideMaster.Vertical Title and TextFooter" descr="TASNİF DIŞI">
            <a:extLst>
              <a:ext uri="{FF2B5EF4-FFF2-40B4-BE49-F238E27FC236}">
                <a16:creationId xmlns:a16="http://schemas.microsoft.com/office/drawing/2014/main" id="{0F9BC313-D718-4B35-BCE1-4B8A6C0B939E}"/>
              </a:ext>
            </a:extLst>
          </p:cNvPr>
          <p:cNvSpPr txBox="1"/>
          <p:nvPr userDrawn="1"/>
        </p:nvSpPr>
        <p:spPr>
          <a:xfrm>
            <a:off x="0" y="6499860"/>
            <a:ext cx="1219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tr-TR" sz="1100" b="1" i="0" u="sng" strike="noStrike" baseline="0">
                <a:solidFill>
                  <a:srgbClr val="000000"/>
                </a:solidFill>
                <a:latin typeface="trebuchet ms" panose="020B0603020202020204" pitchFamily="34" charset="0"/>
                <a:cs typeface="+mn-cs"/>
              </a:rPr>
              <a:t>TASNİF DIŞI</a:t>
            </a:r>
          </a:p>
        </p:txBody>
      </p:sp>
    </p:spTree>
    <p:extLst>
      <p:ext uri="{BB962C8B-B14F-4D97-AF65-F5344CB8AC3E}">
        <p14:creationId xmlns:p14="http://schemas.microsoft.com/office/powerpoint/2010/main" val="22360785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7B5F2-8DBD-4212-A465-075F69D3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C63A0-CAB5-4B52-B807-C7E893FCC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2C466-F793-4066-B749-80EE865EF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79780-E704-4F7E-9875-42202859735A}" type="datetimeFigureOut">
              <a:rPr lang="tr-TR" smtClean="0"/>
              <a:t>1.10.2025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DD99B-714B-492F-9CAC-42264F6D7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D5414-BA2A-44B8-AC0F-997009328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DE36A-FFF5-4839-84F8-061038F266C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9078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698480" cy="5394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164592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20116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6B3"/>
                </a:solidFill>
              </a:defRPr>
            </a:pPr>
            <a:r>
              <a:t>TRUSTIA TEKNOLOJİ</a:t>
            </a:r>
          </a:p>
          <a:p>
            <a:pPr>
              <a:defRPr sz="2800" b="1">
                <a:solidFill>
                  <a:srgbClr val="0B2545"/>
                </a:solidFill>
              </a:defRPr>
            </a:pPr>
            <a:r>
              <a:t>Milli Otonom Sürüş Yazılımı &amp; İnsansız Araç Beyni</a:t>
            </a:r>
          </a:p>
          <a:p>
            <a:pPr>
              <a:defRPr sz="1500">
                <a:solidFill>
                  <a:srgbClr val="6C757D"/>
                </a:solidFill>
              </a:defRPr>
            </a:pPr>
            <a:r>
              <a:t>Uydudan Bağımsız Lazerle Harita Çıkaran ve Sinyal Kesilmesinden Etkilenmeyen Yerli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4805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Başvuru: ASELSAN Girişimcilik Merkezi (Axcelerate) &amp; Millileştirme Değerlendirmesi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Sunucu: Murat Furkan Bayram (Kurucu &amp; Sistem Mimarı) | Donanım: Denizcan Özcan (ASELSAN Aday Havuzu)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Tarih: 23 Eylül 2026 | Yerleşke: İTO BTM Fulya Kampüsü | Tedarikçi Başvuru No: 0050569</a:t>
            </a:r>
          </a:p>
        </p:txBody>
      </p:sp>
    </p:spTree>
    <p:extLst>
      <p:ext uri="{BB962C8B-B14F-4D97-AF65-F5344CB8AC3E}">
        <p14:creationId xmlns:p14="http://schemas.microsoft.com/office/powerpoint/2010/main" val="366918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56B3"/>
                </a:solidFill>
              </a:defRPr>
            </a:pPr>
            <a:r>
              <a:t>ASELSAN GİRİŞİMCİLİK MERKEZİ (AXCELERATE) BAŞVURU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PROBLEM: Askeri Sahada Yaşanan 3 Büyük Zorluk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DAE0E9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42828"/>
                </a:solidFill>
              </a:defRPr>
            </a:pPr>
            <a:r>
              <a:t>1. Uydu (GPS) Sinyalinin Kesilmesi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Savaş ve operasyon alanlarında sinyal bozucular uydu bağlantısını tamamen keser. Pazardaki standart insansız araçlar uydu bağlantısı koptuğunda yönünü kaybedip durur ve açık hedef haline gelir.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42828"/>
                </a:solidFill>
              </a:defRPr>
            </a:pPr>
            <a:r>
              <a:t>2. Uzaktan Kumanda (Telsiz) Bağlantısının Kopması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Uzaktan kumandayla yönlendirilen araçlarda telsiz bağı koptuğunda araç olduğu yerde donup kalır. Ayrıca sinyalin gecikmeli gitmesi ani engellerde kazalara yol açar.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69848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42828"/>
                </a:solidFill>
              </a:defRPr>
            </a:pPr>
            <a:r>
              <a:t>3. Yabancı Otonom Yazılımlara Bağımlılık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Piyasadaki hazır otonom sistemler yabancı kaynaklıdır. Güvenlik açıkları taşır ve Türk savunma sanayii sistemleriyle doğrudan haberleşemez.</a:t>
            </a:r>
          </a:p>
        </p:txBody>
      </p:sp>
    </p:spTree>
    <p:extLst>
      <p:ext uri="{BB962C8B-B14F-4D97-AF65-F5344CB8AC3E}">
        <p14:creationId xmlns:p14="http://schemas.microsoft.com/office/powerpoint/2010/main" val="147295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56B3"/>
                </a:solidFill>
              </a:defRPr>
            </a:pPr>
            <a:r>
              <a:t>ASELSAN GİRİŞİMCİLİK MERKEZİ (AXCELERATE) BAŞVURU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ÇÖZÜM: Trustia Yerli Otonom Sürüş Çekirdeği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DAE0E9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1. Uydu Olmadan Lazer Gözlerle (LiDAR) Haritalama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Uydu sinyali tamamen kesilse bile; araç üzerindeki 3 boyutlu lazer tarayıcılar sayesinde araç kendi haritasını arazide kendisi çıkarır ve yolundan şaşmadan ilerler.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2. Bağlantı Koptuğunda Kendi Başına Üsse Dönüş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Kumanda veya telsiz bağlantısı koptuğu anda araç panik yapmaz. Hafızasındaki lazer haritayı takip ederek güvenli başlangıç noktasına kendi kendine geri döner.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69848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3. %100 Yerli Kod ve ASELSAN Sistemlerine Tam Uyum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Yazılımın tüm satırları sıfırdan yerli olarak yazılmıştır. Askeri haberleşme kurallarına ve ASELSAN kara sistemlerine doğrudan bağlanabilir.</a:t>
            </a:r>
          </a:p>
        </p:txBody>
      </p:sp>
    </p:spTree>
    <p:extLst>
      <p:ext uri="{BB962C8B-B14F-4D97-AF65-F5344CB8AC3E}">
        <p14:creationId xmlns:p14="http://schemas.microsoft.com/office/powerpoint/2010/main" val="31985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56B3"/>
                </a:solidFill>
              </a:defRPr>
            </a:pPr>
            <a:r>
              <a:t>ASELSAN GİRİŞİMCİLİK MERKEZİ (AXCELERATE) BAŞVURU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ÜRÜN: Trustia Otonomi Beyni ve Kontrol Ekranı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DAE0E9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• Akıllı Sürüş ve Rota Çizici: </a:t>
            </a:r>
            <a:r>
              <a:rPr sz="1200">
                <a:solidFill>
                  <a:srgbClr val="212529"/>
                </a:solidFill>
              </a:rPr>
              <a:t>Lazer sensörlerle çevreyi tarar; yoldaki çukurları, kayaları ve hareketli engelleri anında görüp etrafından dolaşır.</a:t>
            </a:r>
          </a:p>
          <a:p>
            <a:pPr>
              <a:defRPr sz="1300" b="1">
                <a:solidFill>
                  <a:srgbClr val="0B2545"/>
                </a:solidFill>
              </a:defRPr>
            </a:pPr>
            <a:r>
              <a:t>• Askeri Tehlike Algılama Modülü: </a:t>
            </a:r>
            <a:r>
              <a:rPr sz="1200">
                <a:solidFill>
                  <a:srgbClr val="212529"/>
                </a:solidFill>
              </a:rPr>
              <a:t>Yoldaki mayın ve patlayıcı şüpheli cisimleri tespit eder, aracı güvenli mesafede durdurur.</a:t>
            </a:r>
          </a:p>
          <a:p>
            <a:pPr>
              <a:defRPr sz="1300" b="1">
                <a:solidFill>
                  <a:srgbClr val="0B2545"/>
                </a:solidFill>
              </a:defRPr>
            </a:pPr>
            <a:r>
              <a:t>• Taktik Komuta Ekranı: </a:t>
            </a:r>
            <a:r>
              <a:rPr sz="1200">
                <a:solidFill>
                  <a:srgbClr val="212529"/>
                </a:solidFill>
              </a:rPr>
              <a:t>Askeri harita destekli kontrol ekranı. Operatör ekran üzerinden tek dokunuşla araca hedef verir veya anında durdurur.</a:t>
            </a:r>
          </a:p>
          <a:p>
            <a:pPr>
              <a:defRPr sz="1300" b="1">
                <a:solidFill>
                  <a:srgbClr val="0B2545"/>
                </a:solidFill>
              </a:defRPr>
            </a:pPr>
            <a:r>
              <a:t>• 1.301 Test ile Kanıtlanmış Güvenlik: </a:t>
            </a:r>
            <a:r>
              <a:rPr sz="1200">
                <a:solidFill>
                  <a:srgbClr val="212529"/>
                </a:solidFill>
              </a:rPr>
              <a:t>16 bin satırlık yazılım çekirdeği 1.301 farklı zorlu arazi senaryosunda test edilmiş ve tamamını hatasız geçmiştir.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420624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ac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37360"/>
            <a:ext cx="3840480" cy="2874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40233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6B3"/>
                </a:solidFill>
              </a:defRPr>
            </a:pPr>
            <a:r>
              <a:t>TEKNİK GÜCÜMÜZ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✓ Haberleşme: Askeri ve Robotik Standartlara Tam Uyumlu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✓ Bilgisayar: Araç İçi Güçlü İşlemciler (Nvidia Jetson vb.)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✓ Sensörler: 3 Boyutlu Lazer (LiDAR), Kamera, Açı Ölçerler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✓ Tepki Hızı: 5 Milisaniyede (Göz Kırpmasından Hızlı) Müdahale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✓ Durum: Çalışır Durumda, Göreve Hazır</a:t>
            </a:r>
          </a:p>
        </p:txBody>
      </p:sp>
    </p:spTree>
    <p:extLst>
      <p:ext uri="{BB962C8B-B14F-4D97-AF65-F5344CB8AC3E}">
        <p14:creationId xmlns:p14="http://schemas.microsoft.com/office/powerpoint/2010/main" val="913486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56B3"/>
                </a:solidFill>
              </a:defRPr>
            </a:pPr>
            <a:r>
              <a:t>ASELSAN GİRİŞİMCİLİK MERKEZİ (AXCELERATE) BAŞVURU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ALTYAPILAR: Çalışma Merkezimiz ve Belgelerimiz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DAE0E9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İTO BTM Fulya Kampüsü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İstanbul Ticaret Odası bünyesindeki Fulya Derin Teknoloji Kampüsü'nde yerleşik merkezimiz. Ar-Ge, yazılım ve çalışma alanımız buradadır.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Yazılım ve Donanım Test Cihazları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Araç bilgisayarları, 3 boyutlu lazer tarayıcılar (LiDAR), yön algılayıcı sensörler ve araç içi bağlantı ekipmanlarımız mevcuttur.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1.301 Testli Sanal Test Odası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Gerçek araziye çıkmadan önce yazılımımızı 1.301 farklı sanal senaryoda (sis, çamur, gece, karıştırma) 43 saniyede otomatik test eden sistemimiz aktiftir.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21208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Resmi Belgelerimiz ve Onaylarımız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ASELSAN Tedarikçi Portalı Yazılım Ön Onayı (SAP: FZQHEXGFMTJU), NATO Tedarikçi Kodu Başvurusu, TÜBİTAK ARBİS Kaydı ve Savunma Sanayii Sertifikalarımız.</a:t>
            </a:r>
          </a:p>
        </p:txBody>
      </p:sp>
    </p:spTree>
    <p:extLst>
      <p:ext uri="{BB962C8B-B14F-4D97-AF65-F5344CB8AC3E}">
        <p14:creationId xmlns:p14="http://schemas.microsoft.com/office/powerpoint/2010/main" val="2911757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56B3"/>
                </a:solidFill>
              </a:defRPr>
            </a:pPr>
            <a:r>
              <a:t>ASELSAN GİRİŞİMCİLİK MERKEZİ (AXCELERATE) BAŞVURU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PAZAR BÜYÜKLÜĞÜ: Askeri İnsansız Araçlar Pazarı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DAE0E9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297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45"/>
                </a:solidFill>
              </a:defRPr>
            </a:pPr>
            <a:r>
              <a:t>DÜNYA PAZARI</a:t>
            </a:r>
          </a:p>
          <a:p>
            <a:pPr>
              <a:defRPr sz="2600" b="1">
                <a:solidFill>
                  <a:srgbClr val="0056B3"/>
                </a:solidFill>
              </a:defRPr>
            </a:pPr>
            <a:r>
              <a:t>15.8 Milyar $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Dünyadaki askeri insansız kara araçları ve taktik otonomi sistemlerinin toplam yıllık pazar büyüklüğü.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297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45"/>
                </a:solidFill>
              </a:defRPr>
            </a:pPr>
            <a:r>
              <a:t>BÖLGEMİZDEKİ PAZAR</a:t>
            </a:r>
          </a:p>
          <a:p>
            <a:pPr>
              <a:defRPr sz="2600" b="1">
                <a:solidFill>
                  <a:srgbClr val="0056B3"/>
                </a:solidFill>
              </a:defRPr>
            </a:pPr>
            <a:r>
              <a:t>1.2 Milyar $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Türkiye, NATO ve bölge ülkelerindeki sınır güvenliği, otonom konvoy ve taktik araç yazılımları pazarı.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297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45"/>
                </a:solidFill>
              </a:defRPr>
            </a:pPr>
            <a:r>
              <a:t>BİZİM HEDEFİMİZ</a:t>
            </a:r>
          </a:p>
          <a:p>
            <a:pPr>
              <a:defRPr sz="2600" b="1">
                <a:solidFill>
                  <a:srgbClr val="0056B3"/>
                </a:solidFill>
              </a:defRPr>
            </a:pPr>
            <a:r>
              <a:t>45 Milyon $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ASELSAN ve yerli kara araçlarının otonomlaştırılması projelerinde ilk 3 yılda hedeflediğimiz yerli yazılım payı.</a:t>
            </a:r>
          </a:p>
        </p:txBody>
      </p:sp>
    </p:spTree>
    <p:extLst>
      <p:ext uri="{BB962C8B-B14F-4D97-AF65-F5344CB8AC3E}">
        <p14:creationId xmlns:p14="http://schemas.microsoft.com/office/powerpoint/2010/main" val="1359826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56B3"/>
                </a:solidFill>
              </a:defRPr>
            </a:pPr>
            <a:r>
              <a:t>ASELSAN GİRİŞİMCİLİK MERKEZİ (AXCELERATE) BAŞVURU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FARKIMIZ: Sahadaki Çözümlerle Karşılaştırma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DAE0E9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468880"/>
                <a:gridCol w="2468880"/>
                <a:gridCol w="2468880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Özellik ve Yetenek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TRUSTIA (Yerli Yazılım)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Klasik Kumandalı Araçlar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Yabancı Açık Kaynaklar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</a:defRPr>
                      </a:pPr>
                      <a:r>
                        <a:t>Uydusuz Lazerle Harita Çıkarma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✓ Tam Uyumlu (Lazerle Gider)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81E1E"/>
                          </a:solidFill>
                        </a:defRPr>
                      </a:pPr>
                      <a:r>
                        <a:t>✗ Yok (Uydu Şart)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12529"/>
                          </a:solidFill>
                        </a:defRPr>
                      </a:pPr>
                      <a:r>
                        <a:t>△ Şehir Haritası İster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</a:defRPr>
                      </a:pPr>
                      <a:r>
                        <a:t>Askeri Standartlara Uyum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✓ Tam Uyumlu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12529"/>
                          </a:solidFill>
                        </a:defRPr>
                      </a:pPr>
                      <a:r>
                        <a:t>△ Sadece Telsiz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81E1E"/>
                          </a:solidFill>
                        </a:defRPr>
                      </a:pPr>
                      <a:r>
                        <a:t>✗ Askeri Standart Yok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</a:defRPr>
                      </a:pPr>
                      <a:r>
                        <a:t>%100 Yerli Kod Güvencesi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✓ Tamamen Yerli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12529"/>
                          </a:solidFill>
                        </a:defRPr>
                      </a:pPr>
                      <a:r>
                        <a:t>△ Parçalara Bağımlı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81E1E"/>
                          </a:solidFill>
                        </a:defRPr>
                      </a:pPr>
                      <a:r>
                        <a:t>✗ Yabancıya Bağımlı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</a:defRPr>
                      </a:pPr>
                      <a:r>
                        <a:t>Bağlantı Kopunca Eve Dönüş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✓ Kendi Kendine Döner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81E1E"/>
                          </a:solidFill>
                        </a:defRPr>
                      </a:pPr>
                      <a:r>
                        <a:t>✗ Araç Olduğu Yerde Kalır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12529"/>
                          </a:solidFill>
                        </a:defRPr>
                      </a:pPr>
                      <a:r>
                        <a:t>△ Belirsiz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12529"/>
                          </a:solidFill>
                        </a:defRPr>
                      </a:pPr>
                      <a:r>
                        <a:t>1.301 Testten Geçmiş Sistem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A745"/>
                          </a:solidFill>
                        </a:defRPr>
                      </a:pPr>
                      <a:r>
                        <a:t>✓ Test Edilmiş &amp; Hazır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12529"/>
                          </a:solidFill>
                        </a:defRPr>
                      </a:pPr>
                      <a:r>
                        <a:t>△ Deneme Aşamasında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12529"/>
                          </a:solidFill>
                        </a:defRPr>
                      </a:pPr>
                      <a:r>
                        <a:t>△ Sivil Testler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854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56B3"/>
                </a:solidFill>
              </a:defRPr>
            </a:pPr>
            <a:r>
              <a:t>ASELSAN GİRİŞİMCİLİK MERKEZİ (AXCELERATE) BAŞVURU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İŞ MODELİ: Savunma Odaklı Yazılım Lisanslama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DAE0E9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1. Araç Başına Yazılım Lisansı Satışı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ASELSAN'ın ürettiği veya modernize ettiği her insansız araç başına yazılım lisans bedeli faturalandırılması.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2. İlave Güvenlik Paketleri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Temel sürüşe ek olarak; Mayın Arama Paketi, Gaz Kaçınma Paketi veya Sürü Halinde İlerleme Paketi gibi ilave yazılım modülleri satışı.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69848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3. Araç Montajı, Saha Testi ve Yıllık Bakım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Yeni araçlara sensör ve yazılım bağlama desteği, arazide test desteği ve yıllık yazılım güncelleme/bakım sözleşmeleri.</a:t>
            </a:r>
          </a:p>
        </p:txBody>
      </p:sp>
    </p:spTree>
    <p:extLst>
      <p:ext uri="{BB962C8B-B14F-4D97-AF65-F5344CB8AC3E}">
        <p14:creationId xmlns:p14="http://schemas.microsoft.com/office/powerpoint/2010/main" val="3021826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56B3"/>
                </a:solidFill>
              </a:defRPr>
            </a:pPr>
            <a:r>
              <a:t>ASELSAN GİRİŞİMCİLİK MERKEZİ (AXCELERATE) BAŞVURU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PAZARA GİRİŞ: Adım Adım Büyüme Planımız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DAE0E9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1. Aşama: ASELSAN Araçlarında Saha Denemesi (2026)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ASELSAN Girişimcilik Merkezi (Axcelerate) desteğiyle ASELSAN taktik kara araçlarında yazılımımızı arazide denemek ve ilk ortak başarıyı yakalamak.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2. Aşama: Türk Savunma Sanayii Araçlarına Yayılma (2027)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ASELSAN onaylı tedarikçi gücüyle; yerli zırhlı araç üreticilerinin araçlarına otonom devriye ve konvoy yazılımı sağlamak.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10698480" cy="128016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B2545"/>
                </a:solidFill>
              </a:defRPr>
            </a:pPr>
            <a:r>
              <a:t>3. Aşama: Dost Ülkelere İhracat (2027-2028)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NATO tedarikçi kodumuz ve tescillerimizle, dost ülke ordularının projelerine yerli yazılımımızı ihraç etmek.</a:t>
            </a:r>
          </a:p>
        </p:txBody>
      </p:sp>
    </p:spTree>
    <p:extLst>
      <p:ext uri="{BB962C8B-B14F-4D97-AF65-F5344CB8AC3E}">
        <p14:creationId xmlns:p14="http://schemas.microsoft.com/office/powerpoint/2010/main" val="101163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56B3"/>
                </a:solidFill>
              </a:defRPr>
            </a:pPr>
            <a:r>
              <a:t>ASELSAN GİRİŞİMCİLİK MERKEZİ (AXCELERATE) BAŞVURU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YOL HARİTASI: 2026 - 2028 Hedeflerimiz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DAE0E9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297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6B3"/>
                </a:solidFill>
              </a:defRPr>
            </a:pPr>
            <a:r>
              <a:t>ŞU AN</a:t>
            </a:r>
          </a:p>
          <a:p>
            <a:pPr>
              <a:defRPr sz="1300" b="1">
                <a:solidFill>
                  <a:srgbClr val="212529"/>
                </a:solidFill>
              </a:defRPr>
            </a:pPr>
            <a:r>
              <a:t>Çalışır Sistem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16 bin satır yerli kod, 1.301 test ile doğrulandı. ASELSAN Tedarikçi Portalı Yazılım Ön Onayı alındı.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297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6B3"/>
                </a:solidFill>
              </a:defRPr>
            </a:pPr>
            <a:r>
              <a:t>YIL SONU</a:t>
            </a:r>
          </a:p>
          <a:p>
            <a:pPr>
              <a:defRPr sz="1300" b="1">
                <a:solidFill>
                  <a:srgbClr val="212529"/>
                </a:solidFill>
              </a:defRPr>
            </a:pPr>
            <a:r>
              <a:t>Saha Denemesi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Axcelerate programı ile ASELSAN taktik aracında kapalı alanda ve arazide ilk sürüş denemesinin yapılması.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297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45"/>
                </a:solidFill>
              </a:defRPr>
            </a:pPr>
            <a:r>
              <a:t>2027 İLK YARI</a:t>
            </a:r>
          </a:p>
          <a:p>
            <a:pPr>
              <a:defRPr sz="1300" b="1">
                <a:solidFill>
                  <a:srgbClr val="212529"/>
                </a:solidFill>
              </a:defRPr>
            </a:pPr>
            <a:r>
              <a:t>Seri Lisanslama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İlk 10 taktik kara aracı için seri yazılım lisans teslimatı ve kontrol ekranı tam uyumu.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297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45"/>
                </a:solidFill>
              </a:defRPr>
            </a:pPr>
            <a:r>
              <a:t>2027 - 2028</a:t>
            </a:r>
          </a:p>
          <a:p>
            <a:pPr>
              <a:defRPr sz="1300" b="1">
                <a:solidFill>
                  <a:srgbClr val="212529"/>
                </a:solidFill>
              </a:defRPr>
            </a:pPr>
            <a:r>
              <a:t>Sürü ve İhracat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Araçların sürü halinde birlikte hareket etmesi ve dost ülkelere yazılım satışı.</a:t>
            </a:r>
          </a:p>
        </p:txBody>
      </p:sp>
    </p:spTree>
    <p:extLst>
      <p:ext uri="{BB962C8B-B14F-4D97-AF65-F5344CB8AC3E}">
        <p14:creationId xmlns:p14="http://schemas.microsoft.com/office/powerpoint/2010/main" val="764563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56B3"/>
                </a:solidFill>
              </a:defRPr>
            </a:pPr>
            <a:r>
              <a:t>ASELSAN GİRİŞİMCİLİK MERKEZİ (AXCELERATE) BAŞVURU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EKİP: Vizyonumuz ve Mühendislik Gücümüz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DAE0E9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475488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2545"/>
                </a:solidFill>
              </a:defRPr>
            </a:pPr>
            <a:r>
              <a:t>Murat Furkan Bayram</a:t>
            </a:r>
          </a:p>
          <a:p>
            <a:pPr>
              <a:defRPr sz="1200" b="1">
                <a:solidFill>
                  <a:srgbClr val="0056B3"/>
                </a:solidFill>
              </a:defRPr>
            </a:pPr>
            <a:r>
              <a:t>Kurucu &amp; CEO / Sistem Mimarı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16.000 satırlık Trustia Otonomi Çekirdeğinin mimarı ve yazarı.</a:t>
            </a:r>
            <a:br/>
            <a:r>
              <a:t>• 1.301 otomatik test senaryosunun geliştiricisi (%100 başarı).</a:t>
            </a:r>
            <a:br/>
            <a:r>
              <a:t>• TÜBİTAK ARBİS, BTK Savunma ve KOSGEB İleri Girişimci tescilleri sahibi.</a:t>
            </a:r>
            <a:br/>
            <a:r>
              <a:t>• Çekirdek Yazılım, Rota Planlama ve Algoritma Lideri.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475488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2545"/>
                </a:solidFill>
              </a:defRPr>
            </a:pPr>
            <a:r>
              <a:t>Denizcan Özcan</a:t>
            </a:r>
          </a:p>
          <a:p>
            <a:pPr>
              <a:defRPr sz="1200" b="1">
                <a:solidFill>
                  <a:srgbClr val="0056B3"/>
                </a:solidFill>
              </a:defRPr>
            </a:pPr>
            <a:r>
              <a:t>Baş Donanım ve Entegrasyon Mühendisi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ASELSAN Aday Mühendislik Havuzu Üyesi.</a:t>
            </a:r>
            <a:br/>
            <a:r>
              <a:t>• TEKNOFEST Robotaksi Finalisti.</a:t>
            </a:r>
            <a:br/>
            <a:r>
              <a:t>• Lazer tarayıcılar (LiDAR), sensörler, gömülü bilgisayarlar ve araç içi haberleşme uzmanı.</a:t>
            </a:r>
            <a:br/>
            <a:r>
              <a:t>• Donanım Kurulumu ve Saha Testleri Lideri.</a:t>
            </a:r>
          </a:p>
        </p:txBody>
      </p:sp>
    </p:spTree>
    <p:extLst>
      <p:ext uri="{BB962C8B-B14F-4D97-AF65-F5344CB8AC3E}">
        <p14:creationId xmlns:p14="http://schemas.microsoft.com/office/powerpoint/2010/main" val="3591842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56B3"/>
                </a:solidFill>
              </a:defRPr>
            </a:pPr>
            <a:r>
              <a:t>ASELSAN GİRİŞİMCİLİK MERKEZİ (AXCELERATE) BAŞVURU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</a:defRPr>
            </a:pPr>
            <a:r>
              <a:t>ASELSAN'DAN BEKLENTİLERİMİZ: Birlikte Neler Yapabiliriz?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698480" cy="18288"/>
          </a:xfrm>
          <a:prstGeom prst="rect">
            <a:avLst/>
          </a:prstGeom>
          <a:solidFill>
            <a:srgbClr val="DAE0E9"/>
          </a:solidFill>
          <a:ln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45"/>
                </a:solidFill>
              </a:defRPr>
            </a:pPr>
            <a:r>
              <a:t>1. ASELSAN Araçlarında Ortak Saha Denemesi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ASELSAN'ın mevcut insansız kara araçlarında yazılımımızı araca yükleyip arazide birlikte denemek.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45"/>
                </a:solidFill>
              </a:defRPr>
            </a:pPr>
            <a:r>
              <a:t>2. Gerçekçi Askeri Test Alanı Desteği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GPS uydularının kapalı olduğu kontrollü askeri test alanlarında yazılımımızın gücünü resmi olarak kanıtlamak.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45"/>
                </a:solidFill>
              </a:defRPr>
            </a:pPr>
            <a:r>
              <a:t>3. Yerli Yazılım Tedarikçi Anlaşması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Ön onayı tamamlanan Yazılım Geliştirme başvurumuzla birlikte ASELSAN'ın onaylı yazılım tedarikçisi olmak ve araç başı lisans modeliyle çalışmak.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212080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2545"/>
                </a:solidFill>
              </a:defRPr>
            </a:pPr>
            <a:r>
              <a:t>4. Askeri Standartlar ve Uzman Desteği</a:t>
            </a:r>
          </a:p>
          <a:p>
            <a:pPr>
              <a:defRPr sz="1150">
                <a:solidFill>
                  <a:srgbClr val="212529"/>
                </a:solidFill>
              </a:defRPr>
            </a:pPr>
            <a:r>
              <a:t>Askeri çevre koşullarına ve güvenlik kurallarına uyum sürecinde ASELSAN uzmanlarının tecrübesinden faydalanmak.</a:t>
            </a:r>
          </a:p>
        </p:txBody>
      </p:sp>
    </p:spTree>
    <p:extLst>
      <p:ext uri="{BB962C8B-B14F-4D97-AF65-F5344CB8AC3E}">
        <p14:creationId xmlns:p14="http://schemas.microsoft.com/office/powerpoint/2010/main" val="2932739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698480" cy="53949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164592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201168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6B3"/>
                </a:solidFill>
              </a:defRPr>
            </a:pPr>
            <a:r>
              <a:t>TEŞEKKÜR EDERİZ</a:t>
            </a:r>
          </a:p>
          <a:p>
            <a:pPr>
              <a:defRPr sz="2800" b="1">
                <a:solidFill>
                  <a:srgbClr val="0B2545"/>
                </a:solidFill>
              </a:defRPr>
            </a:pPr>
            <a:r>
              <a:t>Milli Otonomi, Güçlü Savunma.</a:t>
            </a:r>
          </a:p>
          <a:p>
            <a:pPr>
              <a:defRPr sz="1400">
                <a:solidFill>
                  <a:srgbClr val="6C757D"/>
                </a:solidFill>
              </a:defRPr>
            </a:pPr>
            <a:r>
              <a:t>ASELSAN ile birlikte sahada Mehmetçiğin can güvenliğini yerli otonomiyle korumak için hazırız.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İLETİŞİM BİLGİLERİ:</a:t>
            </a:r>
          </a:p>
          <a:p>
            <a:pPr>
              <a:defRPr sz="1150" b="1">
                <a:solidFill>
                  <a:srgbClr val="212529"/>
                </a:solidFill>
              </a:defRPr>
            </a:pPr>
            <a:r>
              <a:t>Murat Furkan Bayram | Kurucu &amp; Sistem Mimarı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E-posta: murat@trustia.com.tr | kariyer@trustia.com.tr  •  Telefon: +90 537 064 04 60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Web: trustia.com.tr  •  Merkez: İTO BTM Fulya Kampüsü, Şişli / İstanbul</a:t>
            </a:r>
          </a:p>
        </p:txBody>
      </p:sp>
    </p:spTree>
    <p:extLst>
      <p:ext uri="{BB962C8B-B14F-4D97-AF65-F5344CB8AC3E}">
        <p14:creationId xmlns:p14="http://schemas.microsoft.com/office/powerpoint/2010/main" val="2707001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itus xmlns="http://schemas.titus.com/TitusProperties/">
  <TitusGUID xmlns="">8bdb452d-4710-4cd0-adb7-75c52fb2a0f8</TitusGUID>
  <TitusMetadata xmlns="">eyJucyI6IkFTRUxTQU4iLCJwcm9wcyI6W3sibiI6IkxBTkdVQUdFIiwidmFscyI6W3sidmFsdWUiOiJUUiJ9XX0seyJuIjoiQ0FURUdPUlkiLCJ2YWxzIjpbeyJ2YWx1ZSI6IkNUMSJ9XX0seyJuIjoiTUlMTElDTEFTU0lGSUNBVElPTiIsInZhbHMiOlt7InZhbHVlIjoiQUhjMm4zQjlzIn1dfSx7Im4iOiJOQVRPQ0xBU1NJRklDQVRJT04iLCJ2YWxzIjpbXX0seyJuIjoiS1ZLSyIsInZhbHMiOlt7InZhbHVlIjoiQTY1dmVFN0FLIn1dfSx7Im4iOiJMQUJFTElORyIsInZhbHMiOltdfV19</TitusMetadata>
</titus>
</file>

<file path=customXml/itemProps1.xml><?xml version="1.0" encoding="utf-8"?>
<ds:datastoreItem xmlns:ds="http://schemas.openxmlformats.org/officeDocument/2006/customXml" ds:itemID="{CD6A226D-5F2C-43C4-AC64-297F682E1367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298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Segoe UI Black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Yasin DEMİR</dc:creator>
  <cp:keywords/>
  <cp:lastModifiedBy>Yasin DEMİR</cp:lastModifiedBy>
  <cp:revision>3</cp:revision>
  <dcterms:created xsi:type="dcterms:W3CDTF">2025-10-01T10:10:07Z</dcterms:created>
  <dcterms:modified xsi:type="dcterms:W3CDTF">2025-10-01T10:30:26Z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8bdb452d-4710-4cd0-adb7-75c52fb2a0f8</vt:lpwstr>
  </property>
  <property fmtid="{D5CDD505-2E9C-101B-9397-08002B2CF9AE}" pid="3" name="LANGUAGE">
    <vt:lpwstr>TR</vt:lpwstr>
  </property>
  <property fmtid="{D5CDD505-2E9C-101B-9397-08002B2CF9AE}" pid="4" name="CATEGORY">
    <vt:lpwstr>CT1</vt:lpwstr>
  </property>
  <property fmtid="{D5CDD505-2E9C-101B-9397-08002B2CF9AE}" pid="5" name="MILLICLASSIFICATION">
    <vt:lpwstr>AHc2n3B9s</vt:lpwstr>
  </property>
  <property fmtid="{D5CDD505-2E9C-101B-9397-08002B2CF9AE}" pid="6" name="KVKK">
    <vt:lpwstr>A65veE7AK</vt:lpwstr>
  </property>
  <property fmtid="{D5CDD505-2E9C-101B-9397-08002B2CF9AE}" pid="7" name="LABELING">
    <vt:lpwstr/>
  </property>
</Properties>
</file>