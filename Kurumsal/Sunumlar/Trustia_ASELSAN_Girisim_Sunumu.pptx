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C4AE0-9F2B-44FA-BEE3-15A0F8FA7E14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915EB-395E-47E5-909C-44A6BB1D268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5996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7E54-8BC2-4876-AEE8-BC67EF72C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1ECF-3846-40F1-85FD-99796A4EC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20DA5-4B3F-4AE8-8A19-E065ACCB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3B6C0-F5F0-4C20-978C-59597005E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14BFB-CF8F-47B4-B267-943435CC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flSlideMaster.Title SlideFooter" descr="TASNİF DIŞI">
            <a:extLst>
              <a:ext uri="{FF2B5EF4-FFF2-40B4-BE49-F238E27FC236}">
                <a16:creationId xmlns:a16="http://schemas.microsoft.com/office/drawing/2014/main" id="{1EF0F251-6FD2-438F-B51C-1BEE6B6513A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6180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359B-6473-4D4C-81BB-713FD1F4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D806-ACCC-49A1-A86F-1872DD6B8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7812C-069D-462D-B8AA-E2B410713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25104-4917-4893-9A14-1DB5923B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D2B47-05F7-486D-968A-0B6BAB77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ContentHeader" descr="TASNİF DIŞI">
            <a:extLst>
              <a:ext uri="{FF2B5EF4-FFF2-40B4-BE49-F238E27FC236}">
                <a16:creationId xmlns:a16="http://schemas.microsoft.com/office/drawing/2014/main" id="{00D5B2F1-4E73-4BFC-A439-027F34718C4F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ContentFooter" descr="TASNİF DIŞI">
            <a:extLst>
              <a:ext uri="{FF2B5EF4-FFF2-40B4-BE49-F238E27FC236}">
                <a16:creationId xmlns:a16="http://schemas.microsoft.com/office/drawing/2014/main" id="{3643620C-766B-4B7C-A718-E5A8F5EEFCF8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7161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9429E-D618-4B46-92EB-5B5487B1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C821-D221-40FD-AEA8-3A24212FB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2929D-E99F-4654-AD52-FC6F290D6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052D2-4162-49BD-8B8A-F58BCFB93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FE0E3-210A-4C1B-92FC-F03B1B344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Section HeaderHeader" descr="TASNİF DIŞI">
            <a:extLst>
              <a:ext uri="{FF2B5EF4-FFF2-40B4-BE49-F238E27FC236}">
                <a16:creationId xmlns:a16="http://schemas.microsoft.com/office/drawing/2014/main" id="{BE08D8CE-8A06-49DF-B92B-EDA935DA5E0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Section HeaderFooter" descr="TASNİF DIŞI">
            <a:extLst>
              <a:ext uri="{FF2B5EF4-FFF2-40B4-BE49-F238E27FC236}">
                <a16:creationId xmlns:a16="http://schemas.microsoft.com/office/drawing/2014/main" id="{A88F4026-A786-41E3-B772-EA44FC58EEE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98539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58CC-C411-4390-A506-4372D940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3702-3CD6-41F7-9EC9-39CE04D12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35820-E8BD-46EC-9053-DC1B825C9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52DE6-97BB-4A14-9640-E8E4DFD8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68A48-0954-44B2-BAA6-FF4D263FD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823D2-FFEC-4BE8-A06C-918F8225C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Two ContentHeader" descr="TASNİF DIŞI">
            <a:extLst>
              <a:ext uri="{FF2B5EF4-FFF2-40B4-BE49-F238E27FC236}">
                <a16:creationId xmlns:a16="http://schemas.microsoft.com/office/drawing/2014/main" id="{7FC4EEB1-4C87-439B-B321-17C757359016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Two ContentFooter" descr="TASNİF DIŞI">
            <a:extLst>
              <a:ext uri="{FF2B5EF4-FFF2-40B4-BE49-F238E27FC236}">
                <a16:creationId xmlns:a16="http://schemas.microsoft.com/office/drawing/2014/main" id="{79A0E561-9D23-4478-9518-9F7A268F9CE6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73993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AA921-0723-482B-90AA-137C16DCB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0EA-F553-4CCB-9799-DA9197D04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418A-68E4-4901-B6A9-CC454E2A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AF1D5-3804-4A63-AE4A-797D4645A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AF768-FFB1-4083-84EB-C61B3BC9E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47E2E6-DC53-479C-B568-2AD63130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E05DE7-A101-4AD9-9158-B75B7F4B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F7A7-B1BD-4D34-BD5A-6BD499A5B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hlSlideMaster.ComparisonHeader" descr="TASNİF DIŞI">
            <a:extLst>
              <a:ext uri="{FF2B5EF4-FFF2-40B4-BE49-F238E27FC236}">
                <a16:creationId xmlns:a16="http://schemas.microsoft.com/office/drawing/2014/main" id="{85B96AB7-FE1C-4B8A-B856-61421FFE139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11" name="flSlideMaster.ComparisonFooter" descr="TASNİF DIŞI">
            <a:extLst>
              <a:ext uri="{FF2B5EF4-FFF2-40B4-BE49-F238E27FC236}">
                <a16:creationId xmlns:a16="http://schemas.microsoft.com/office/drawing/2014/main" id="{64FE4608-8B1D-44CC-9E66-3A90A8B15E2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24833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4A13-BE57-48B9-AEE0-0EF1A9A8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DA736-E2DC-4731-823A-70BD0C292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BA31D-FCB1-4397-B9B5-7EB04AC4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E9E9-8D6A-4152-9F08-831DC7488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6" name="hlSlideMaster.Title OnlyHeader" descr="TASNİF DIŞI">
            <a:extLst>
              <a:ext uri="{FF2B5EF4-FFF2-40B4-BE49-F238E27FC236}">
                <a16:creationId xmlns:a16="http://schemas.microsoft.com/office/drawing/2014/main" id="{27E9B51E-77CC-4A53-93FF-0137F1077DB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7" name="flSlideMaster.Title OnlyFooter" descr="TASNİF DIŞI">
            <a:extLst>
              <a:ext uri="{FF2B5EF4-FFF2-40B4-BE49-F238E27FC236}">
                <a16:creationId xmlns:a16="http://schemas.microsoft.com/office/drawing/2014/main" id="{925A1671-63FA-48D8-B431-B7A0E6E1C5A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6602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6D3376-7EEB-4831-B5B9-35318DE5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45DA1-9BAF-486C-A518-E4E9AE004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14355-EAC9-447A-9711-5EFCE1F8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5" name="hlSlideMaster.BlankHeader" descr="TASNİF DIŞI">
            <a:extLst>
              <a:ext uri="{FF2B5EF4-FFF2-40B4-BE49-F238E27FC236}">
                <a16:creationId xmlns:a16="http://schemas.microsoft.com/office/drawing/2014/main" id="{C86ACBC7-9DF9-4D5E-9B1C-E3B421C2378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6" name="flSlideMaster.BlankFooter" descr="TASNİF DIŞI">
            <a:extLst>
              <a:ext uri="{FF2B5EF4-FFF2-40B4-BE49-F238E27FC236}">
                <a16:creationId xmlns:a16="http://schemas.microsoft.com/office/drawing/2014/main" id="{FC462F43-0BAB-4640-B86F-27B4E2379330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49639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B773-AD85-4C1A-83C7-2B152666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63D4-3A63-4B70-9D65-3FB1250B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CB374-EDB2-48E5-8EAD-8D74746BE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B9E9E-A536-4320-9A81-57E07408B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5EE84-8BCD-462C-BF2A-9E192D5E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DA37A-93C3-4695-974D-5CC39C59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Content with CaptionHeader" descr="TASNİF DIŞI">
            <a:extLst>
              <a:ext uri="{FF2B5EF4-FFF2-40B4-BE49-F238E27FC236}">
                <a16:creationId xmlns:a16="http://schemas.microsoft.com/office/drawing/2014/main" id="{48BC99B4-F67B-4097-8D1C-399B6920DEA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Content with CaptionFooter" descr="TASNİF DIŞI">
            <a:extLst>
              <a:ext uri="{FF2B5EF4-FFF2-40B4-BE49-F238E27FC236}">
                <a16:creationId xmlns:a16="http://schemas.microsoft.com/office/drawing/2014/main" id="{4314A3AD-FA7D-45A6-A0FB-E181D9DEF671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812083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9626-9849-4C82-916B-9E4075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3810C2-5C05-4E9A-AC09-5DF750E46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54063-7130-4FDE-97A9-6451D58A1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54AA-2FD7-46C5-93D1-B5B5282A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0CC05-C5C3-49AB-9430-CBDA1949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35F1C-7EEB-4741-96FD-C65A9570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Picture with CaptionHeader" descr="TASNİF DIŞI">
            <a:extLst>
              <a:ext uri="{FF2B5EF4-FFF2-40B4-BE49-F238E27FC236}">
                <a16:creationId xmlns:a16="http://schemas.microsoft.com/office/drawing/2014/main" id="{BCE7FAF7-58D1-46EB-AF4E-232C5B69B91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Picture with CaptionFooter" descr="TASNİF DIŞI">
            <a:extLst>
              <a:ext uri="{FF2B5EF4-FFF2-40B4-BE49-F238E27FC236}">
                <a16:creationId xmlns:a16="http://schemas.microsoft.com/office/drawing/2014/main" id="{9C4CFF5E-E90F-429B-BC1C-4E126B3DF509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52676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51512-5383-4BEA-A481-7AE9EA9C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4482-1677-4589-B634-B2B5C543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85BF6-9703-4E22-BE26-68B08A62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900BC-89D9-4B08-8DEC-DE64A2A7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F48D-8C54-42B8-B006-703A8AC5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Vertical TextHeader" descr="TASNİF DIŞI">
            <a:extLst>
              <a:ext uri="{FF2B5EF4-FFF2-40B4-BE49-F238E27FC236}">
                <a16:creationId xmlns:a16="http://schemas.microsoft.com/office/drawing/2014/main" id="{5D9CC7A9-ABE0-4098-A22F-95D2BA9D30A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Vertical TextFooter" descr="TASNİF DIŞI">
            <a:extLst>
              <a:ext uri="{FF2B5EF4-FFF2-40B4-BE49-F238E27FC236}">
                <a16:creationId xmlns:a16="http://schemas.microsoft.com/office/drawing/2014/main" id="{DBC42A12-2B79-41E9-8931-1DABC2C3551C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010038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5DF-3AB6-4252-A68A-C2FCCD34B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E8025-F185-4E97-A21D-DB8076674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F518C-615B-4146-9A67-C132FA71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9D2ED-B41D-4ACF-B596-6D3BDCD5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FA4A3-3D88-4F34-B8B8-603669FB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Vertical Title and TextHeader" descr="TASNİF DIŞI">
            <a:extLst>
              <a:ext uri="{FF2B5EF4-FFF2-40B4-BE49-F238E27FC236}">
                <a16:creationId xmlns:a16="http://schemas.microsoft.com/office/drawing/2014/main" id="{D6A9557A-AD2E-40BB-A3D4-DA311E80216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Vertical Title and TextFooter" descr="TASNİF DIŞI">
            <a:extLst>
              <a:ext uri="{FF2B5EF4-FFF2-40B4-BE49-F238E27FC236}">
                <a16:creationId xmlns:a16="http://schemas.microsoft.com/office/drawing/2014/main" id="{0F9BC313-D718-4B35-BCE1-4B8A6C0B939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36078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7B5F2-8DBD-4212-A465-075F69D3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C63A0-CAB5-4B52-B807-C7E893FC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2C466-F793-4066-B749-80EE865EF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DD99B-714B-492F-9CAC-42264F6D7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D5414-BA2A-44B8-AC0F-99700932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90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TRUSTIA TEKNOLOJİ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 Sürüş Yazılımı &amp; İnsansız Araç Beyni</a:t>
            </a:r>
          </a:p>
          <a:p>
            <a:pPr>
              <a:defRPr sz="1500">
                <a:solidFill>
                  <a:srgbClr val="6C757D"/>
                </a:solidFill>
              </a:defRPr>
            </a:pPr>
            <a:r>
              <a:t>Uydudan Bağımsız Lazerle Harita Çıkaran ve Sinyal Kesilmesinden Etkilenmeyen Yerli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Başvuru: ASELSAN Girişimcilik Merkezi (Axcelerate) &amp; Millileştirme Değerlendirmesi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Sunucu: Murat Furkan Bayram (Kurucu &amp; Sistem Mimarı) | Donanım: Denizcan Özcan (ASELSAN Aday Havuzu)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Tarih: 23 Eylül 2026 | Yerleşke: İTO BTM Fulya Kampüsü | Tedarikçi Başvuru No: 0050569</a:t>
            </a:r>
          </a:p>
        </p:txBody>
      </p:sp>
    </p:spTree>
    <p:extLst>
      <p:ext uri="{BB962C8B-B14F-4D97-AF65-F5344CB8AC3E}">
        <p14:creationId xmlns:p14="http://schemas.microsoft.com/office/powerpoint/2010/main" val="3669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PROBLEM: Askeri Sahada Yaşanan 3 Büyük Zorluk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1. Uydu (GPS) Sinyalinin Kesilmesi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Savaş ve operasyon alanlarında sinyal bozucular uydu bağlantısını tamamen keser. Pazardaki standart insansız araçlar uydu bağlantısı koptuğunda yönünü kaybedip durur ve açık hedef haline gelir.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2. Uzaktan Kumanda (Telsiz) Bağlantısının Kopması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Uzaktan kumandayla yönlendirilen araçlarda telsiz bağı koptuğunda araç olduğu yerde donup kalır. Ayrıca sinyalin gecikmeli gitmesi ani engellerde kazalara yol açar.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3. Yabancı Otonom Yazılımlara Bağımlılık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Piyasadaki hazır otonom sistemler yabancı kaynaklıdır. Güvenlik açıkları taşır ve Türk savunma sanayii sistemleriyle doğrudan haberleşemez.</a:t>
            </a:r>
          </a:p>
        </p:txBody>
      </p:sp>
    </p:spTree>
    <p:extLst>
      <p:ext uri="{BB962C8B-B14F-4D97-AF65-F5344CB8AC3E}">
        <p14:creationId xmlns:p14="http://schemas.microsoft.com/office/powerpoint/2010/main" val="1472956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ÇÖZÜM: Trustia Yerli Otonom Sürüş Çekirdeği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Uydu Olmadan Lazer Gözlerle (LiDAR) Haritalama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Uydu sinyali tamamen kesilse bile; araç üzerindeki 3 boyutlu lazer tarayıcılar sayesinde araç kendi haritasını arazide kendisi çıkarır ve yolundan şaşmadan ilerler.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Bağlantı Koptuğunda Kendi Başına Üsse Dönüş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Kumanda veya telsiz bağlantısı koptuğu anda araç panik yapmaz. Hafızasındaki lazer haritayı takip ederek güvenli başlangıç noktasına kendi kendine geri döner.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%100 Yerli Kod ve ASELSAN Sistemlerine Tam Uyum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Yazılımın tüm satırları sıfırdan yerli olarak yazılmıştır. Askeri haberleşme kurallarına ve ASELSAN kara sistemlerine doğrudan bağlanabilir.</a:t>
            </a:r>
          </a:p>
        </p:txBody>
      </p:sp>
    </p:spTree>
    <p:extLst>
      <p:ext uri="{BB962C8B-B14F-4D97-AF65-F5344CB8AC3E}">
        <p14:creationId xmlns:p14="http://schemas.microsoft.com/office/powerpoint/2010/main" val="31985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ÜRÜN: Trustia Otonomi Beyni ve Kontrol Ekranı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545"/>
                </a:solidFill>
              </a:defRPr>
            </a:pPr>
            <a:r>
              <a:t>• Akıllı Sürüş ve Rota Çizici: </a:t>
            </a:r>
            <a:r>
              <a:rPr sz="1200">
                <a:solidFill>
                  <a:srgbClr val="212529"/>
                </a:solidFill>
              </a:rPr>
              <a:t>Lazer sensörlerle çevreyi tarar; yoldaki çukurları, kayaları ve hareketli engelleri anında görüp etrafından dolaşır.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Askeri Tehlike Algılama Modülü: </a:t>
            </a:r>
            <a:r>
              <a:rPr sz="1200">
                <a:solidFill>
                  <a:srgbClr val="212529"/>
                </a:solidFill>
              </a:rPr>
              <a:t>Yoldaki mayın ve patlayıcı şüpheli cisimleri tespit eder, aracı güvenli mesafede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Taktik Komuta Ekranı: </a:t>
            </a:r>
            <a:r>
              <a:rPr sz="1200">
                <a:solidFill>
                  <a:srgbClr val="212529"/>
                </a:solidFill>
              </a:rPr>
              <a:t>Askeri harita destekli kontrol ekranı. Operatör ekran üzerinden tek dokunuşla araca hedef verir veya anında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1.301 Test ile Kanıtlanmış Güvenlik: </a:t>
            </a:r>
            <a:r>
              <a:rPr sz="1200">
                <a:solidFill>
                  <a:srgbClr val="212529"/>
                </a:solidFill>
              </a:rPr>
              <a:t>16 bin satırlık yazılım çekirdeği 1.301 farklı zorlu arazi senaryosunda test edilmiş ve tamamını hatasız geçmiştir.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206240" cy="44805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ac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37360"/>
            <a:ext cx="3840480" cy="2874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6B3"/>
                </a:solidFill>
              </a:defRPr>
            </a:pPr>
            <a:r>
              <a:t>TEKNİK UYUMLULUK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Haberleşme: Askeri ve Robotik Standartlara Tam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Bilgisayar: Nvidia Jetson ve Araç İçi Bilgisayarlarla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Sensörler: Her Marka Lazer (LiDAR) ve Kamerayla Çalışabilir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Tepki Hızı: 5 Milisaniyede (Göz Kırpmasından Hızlı) Müdahale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Durum: Yazılım Hazır, 1.301 Testten Geçti</a:t>
            </a:r>
          </a:p>
        </p:txBody>
      </p:sp>
    </p:spTree>
    <p:extLst>
      <p:ext uri="{BB962C8B-B14F-4D97-AF65-F5344CB8AC3E}">
        <p14:creationId xmlns:p14="http://schemas.microsoft.com/office/powerpoint/2010/main" val="91348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ALTYAPILAR: Çalışma Merkezimiz ve Belgelerimiz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İTO BTM Fulya Kampüsü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İstanbul Ticaret Odası bünyesindeki Fulya Derin Teknoloji Kampüsü'nde yerleşik merkezimiz. Ar-Ge, yazılım ve çalışma alanımız buradadır.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Donanım Bağımsız Yazılım Altyapısı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Biz yazılım şirketiyiz. Kodlarımız donanım bağımsızdır; ASELSAN'ın araçlarındaki her marka lazer (LiDAR), kamera ve araç bilgisayarına doğrudan tak-çalıştır bağlanır.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1.301 Testli Sanal Test Odası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Gerçek araziye çıkmadan önce yazılımımızı 1.301 farklı sanal senaryoda (sis, çamur, gece, karıştırma) 43 saniyede otomatik test eden sistemimiz aktiftir.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Resmi Belgelerimiz ve Onaylarımız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Tedarikçi Portalı Yazılım Ön Onayı (SAP: FZQHEXGFMTJU), NATO Tedarikçi Kodu Başvurusu, TÜBİTAK ARBİS Kaydı ve Savunma Sanayii Sertifikalarımız.</a:t>
            </a:r>
          </a:p>
        </p:txBody>
      </p:sp>
    </p:spTree>
    <p:extLst>
      <p:ext uri="{BB962C8B-B14F-4D97-AF65-F5344CB8AC3E}">
        <p14:creationId xmlns:p14="http://schemas.microsoft.com/office/powerpoint/2010/main" val="291175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 BÜYÜKLÜĞÜ: Askeri İnsansız Araçlar Pazarı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DÜNYA PAZARI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15.8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Dünyadaki askeri insansız kara araçları ve taktik otonomi sistemlerinin toplam yıllık pazar büyüklüğü.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BÖLGEMİZDEKİ PAZAR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1.2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Türkiye, NATO ve bölge ülkelerindeki sınır güvenliği, otonom konvoy ve taktik araç yazılımları pazarı.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BİZİM HEDEFİMİZ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45 Milyon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ve yerli kara araçlarının otonomlaştırılması projelerinde ilk 3 yılda hedeflediğimiz yerli yazılım payı.</a:t>
            </a:r>
          </a:p>
        </p:txBody>
      </p:sp>
    </p:spTree>
    <p:extLst>
      <p:ext uri="{BB962C8B-B14F-4D97-AF65-F5344CB8AC3E}">
        <p14:creationId xmlns:p14="http://schemas.microsoft.com/office/powerpoint/2010/main" val="1359826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FARKIMIZ: Sahadaki Çözümlerle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2468880"/>
                <a:gridCol w="246888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Özellik ve Yetenek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TRUSTIA (Yerli Yazılım)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Klasik Kumandalı Araçlar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Yabancı Açık Kaynaklar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Uydusuz Lazerle Harita Çıkarma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 (Lazerle Gider)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Yok (Uydu Şart)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Şehir Haritası İster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Askeri Standartlara Uyum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Sadece Telsiz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Askeri Standart Yok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%100 Yerli Kod Güvencesi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Tamamen Yerli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Parçalara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Yabancıya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Bağlantı Kopunca Eve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Kendi Kendine Döner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Araç Olduğu Yerde Kalır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Belirsiz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1.301 Testten Geçmiş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Test Edilmiş &amp; Hazır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Deneme Aşamasında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Sivil Testler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85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İŞ MODELİ: Savunma Odaklı Yazılım Lisanslama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Araç Başına Yazılım Lisansı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ASELSAN'ın ürettiği veya modernize ettiği her insansız araç başına yazılım lisans bedeli faturalandırılması.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İlave Güvenlik Paketleri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Temel sürüşe ek olarak; Mayın Arama Paketi, Gaz Kaçınma Paketi veya Sürü Halinde İlerleme Paketi gibi ilave yazılım modülleri satışı.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Araç Montajı, Saha Testi ve Yıllık Bakım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Yeni araçlara sensör ve yazılım bağlama desteği, arazide test desteği ve yıllık yazılım güncelleme/bakım sözleşmeleri.</a:t>
            </a:r>
          </a:p>
        </p:txBody>
      </p:sp>
    </p:spTree>
    <p:extLst>
      <p:ext uri="{BB962C8B-B14F-4D97-AF65-F5344CB8AC3E}">
        <p14:creationId xmlns:p14="http://schemas.microsoft.com/office/powerpoint/2010/main" val="3021826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PAZARA GİRİŞ: Adım Adım Büyüme Planımız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Aşama: ASELSAN Araçlarında Saha Denemesi (2026)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Girişimcilik Merkezi (Axcelerate) desteğiyle ASELSAN taktik kara araçlarında yazılımımızı arazide denemek ve ilk ortak başarıyı yakalamak.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Aşama: Türk Savunma Sanayii Araçlarına Yayılma (2027)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onaylı tedarikçi gücüyle; yerli zırhlı araç üreticilerinin araçlarına otonom devriye ve konvoy yazılımı sağlamak.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Aşama: Dost Ülkelere İhracat (2027-2028)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NATO tedarikçi kodumuz ve tescillerimizle, dost ülke ordularının projelerine yerli yazılımımızı ihraç etmek.</a:t>
            </a:r>
          </a:p>
        </p:txBody>
      </p:sp>
    </p:spTree>
    <p:extLst>
      <p:ext uri="{BB962C8B-B14F-4D97-AF65-F5344CB8AC3E}">
        <p14:creationId xmlns:p14="http://schemas.microsoft.com/office/powerpoint/2010/main" val="101163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YOL HARİTASI: 2026 - 2028 Hedeflerimiz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ŞU AN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Çalışır Sistem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16 bin satır yerli kod, 1.301 test ile doğrulandı. ASELSAN Tedarikçi Portalı Yazılım Ön Onayı alındı.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YIL SONU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Saha Denemesi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Axcelerate programı ile ASELSAN taktik aracında kapalı alanda ve arazide ilk sürüş denemesinin yapılması.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İLK YARI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Seri Lisanslama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İlk 10 taktik kara aracı için seri yazılım lisans teslimatı ve kontrol ekranı tam uyumu.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2027 - 2028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Sürü ve İhracat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Araçların sürü halinde birlikte hareket etmesi ve dost ülkelere yazılım satışı.</a:t>
            </a:r>
          </a:p>
        </p:txBody>
      </p:sp>
    </p:spTree>
    <p:extLst>
      <p:ext uri="{BB962C8B-B14F-4D97-AF65-F5344CB8AC3E}">
        <p14:creationId xmlns:p14="http://schemas.microsoft.com/office/powerpoint/2010/main" val="76456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EKİP: Vizyonumuz ve Mühendislik Gücümüz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Murat Furkan Bayram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Kurucu &amp; CEO /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16.000 satırlık Trustia Otonomi Çekirdeğinin mimarı ve yazarı.</a:t>
            </a:r>
            <a:br/>
            <a:r>
              <a:t>• 1.301 otomatik test senaryosunun geliştiricisi (%100 başarı).</a:t>
            </a:r>
            <a:br/>
            <a:r>
              <a:t>• TÜBİTAK ARBİS, BTK Savunma ve KOSGEB İleri Girişimci tescilleri sahibi.</a:t>
            </a:r>
            <a:br/>
            <a:r>
              <a:t>• Çekirdek Yazılım, Rota Planlama ve Algoritma Lideri.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Denizcan Özcan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Baş Donanım ve Entegrasyon Mühendisi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ASELSAN Aday Mühendislik Havuzu Üyesi.</a:t>
            </a:r>
            <a:br/>
            <a:r>
              <a:t>• TEKNOFEST Robotaksi Finalisti.</a:t>
            </a:r>
            <a:br/>
            <a:r>
              <a:t>• Lazer tarayıcılar (LiDAR), sensörler, gömülü bilgisayarlar ve araç içi haberleşme uzmanı.</a:t>
            </a:r>
            <a:br/>
            <a:r>
              <a:t>• Donanım Kurulumu ve Saha Testleri Lideri.</a:t>
            </a:r>
          </a:p>
        </p:txBody>
      </p:sp>
    </p:spTree>
    <p:extLst>
      <p:ext uri="{BB962C8B-B14F-4D97-AF65-F5344CB8AC3E}">
        <p14:creationId xmlns:p14="http://schemas.microsoft.com/office/powerpoint/2010/main" val="359184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ASELSAN'DAN BEKLENTİLERİMİZ: Birlikte Neler Yapabiliriz?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1. ASELSAN Araçlarında Ortak Saha Denemesi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ASELSAN'ın mevcut insansız kara araçlarında yazılımımızı araca yükleyip arazide birlikte denemek.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2. Gerçekçi Askeri Test Alanı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GPS uydularının kapalı olduğu kontrollü askeri test alanlarında yazılımımızın gücünü resmi olarak kanıtlamak.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3. Yerli Yazılım Tedarikçi Anlaşması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Ön onayı tamamlanan Yazılım Geliştirme başvurumuzla birlikte ASELSAN'ın onaylı yazılım tedarikçisi olmak ve araç başı lisans modeliyle çalışmak.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4. Askeri Standartlar ve Uzman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Askeri çevre koşullarına ve güvenlik kurallarına uyum sürecinde ASELSAN uzmanlarının tecrübesinden faydalanmak.</a:t>
            </a:r>
          </a:p>
        </p:txBody>
      </p:sp>
    </p:spTree>
    <p:extLst>
      <p:ext uri="{BB962C8B-B14F-4D97-AF65-F5344CB8AC3E}">
        <p14:creationId xmlns:p14="http://schemas.microsoft.com/office/powerpoint/2010/main" val="2932739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TEŞEKKÜR EDERİZ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Otonomi, Güçlü Savunma.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ASELSAN ile birlikte sahada Mehmetçiğin can güvenliğini yerli otonomiyle korumak için hazırız.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İLETİŞİM BİLGİLERİ:</a:t>
            </a:r>
          </a:p>
          <a:p>
            <a:pPr>
              <a:defRPr sz="1150" b="1">
                <a:solidFill>
                  <a:srgbClr val="212529"/>
                </a:solidFill>
              </a:defRPr>
            </a:pPr>
            <a:r>
              <a:t>Murat Furkan Bayram | Kurucu &amp;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E-posta: murat@trustia.com.tr | kariyer@trustia.com.tr  •  Telefon: +90 537 064 04 60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Web: trustia.com.tr  •  Merkez: İTO BTM Fulya Kampüsü, Şişli / İstanbul</a:t>
            </a:r>
          </a:p>
        </p:txBody>
      </p:sp>
    </p:spTree>
    <p:extLst>
      <p:ext uri="{BB962C8B-B14F-4D97-AF65-F5344CB8AC3E}">
        <p14:creationId xmlns:p14="http://schemas.microsoft.com/office/powerpoint/2010/main" val="270700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8bdb452d-4710-4cd0-adb7-75c52fb2a0f8</TitusGUID>
  <TitusMetadata xmlns="">eyJucyI6IkFTRUxTQU4iLCJwcm9wcyI6W3sibiI6IkxBTkdVQUdFIiwidmFscyI6W3sidmFsdWUiOiJUUiJ9XX0seyJuIjoiQ0FURUdPUlkiLCJ2YWxzIjpbeyJ2YWx1ZSI6IkNUMSJ9XX0seyJuIjoiTUlMTElDTEFTU0lGSUNBVElPTiIsInZhbHMiOlt7InZhbHVlIjoiQUhjMm4zQjlzIn1dfSx7Im4iOiJOQVRPQ0xBU1NJRklDQVRJT04iLCJ2YWxzIjpbXX0seyJuIjoiS1ZLSyIsInZhbHMiOlt7InZhbHVlIjoiQTY1dmVFN0FLIn1dfSx7Im4iOiJMQUJFTElORyIsInZhbHMiOltdfV19</TitusMetadata>
</titus>
</file>

<file path=customXml/itemProps1.xml><?xml version="1.0" encoding="utf-8"?>
<ds:datastoreItem xmlns:ds="http://schemas.openxmlformats.org/officeDocument/2006/customXml" ds:itemID="{CD6A226D-5F2C-43C4-AC64-297F682E1367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Segoe UI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Yasin DEMİR</dc:creator>
  <cp:keywords/>
  <cp:lastModifiedBy>Yasin DEMİR</cp:lastModifiedBy>
  <cp:revision>3</cp:revision>
  <dcterms:created xsi:type="dcterms:W3CDTF">2025-10-01T10:10:07Z</dcterms:created>
  <dcterms:modified xsi:type="dcterms:W3CDTF">2025-10-01T10:30:26Z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8bdb452d-4710-4cd0-adb7-75c52fb2a0f8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